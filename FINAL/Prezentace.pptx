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56533644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56533644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565336443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565336443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565336443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565336443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565336443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565336443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565336443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565336443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565336443_0_1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565336443_0_1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565336443_0_1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565336443_0_1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565336443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565336443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565336443_0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565336443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565336443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565336443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565336443_0_1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565336443_0_1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565336443_0_1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565336443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565336443_0_1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f565336443_0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565336443_13_0)">
  <p:cSld name="Generated (g3f565336443_13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5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5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3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2.png"/><Relationship Id="rId4" Type="http://schemas.openxmlformats.org/officeDocument/2006/relationships/image" Target="../media/image34.png"/><Relationship Id="rId5" Type="http://schemas.openxmlformats.org/officeDocument/2006/relationships/image" Target="../media/image3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png"/><Relationship Id="rId7" Type="http://schemas.openxmlformats.org/officeDocument/2006/relationships/image" Target="../media/image63.jpg"/><Relationship Id="rId8" Type="http://schemas.openxmlformats.org/officeDocument/2006/relationships/image" Target="../media/image6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6.gif"/><Relationship Id="rId7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64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9" Type="http://schemas.openxmlformats.org/officeDocument/2006/relationships/image" Target="../media/image43.png"/><Relationship Id="rId5" Type="http://schemas.openxmlformats.org/officeDocument/2006/relationships/image" Target="../media/image29.jpg"/><Relationship Id="rId6" Type="http://schemas.openxmlformats.org/officeDocument/2006/relationships/image" Target="../media/image30.png"/><Relationship Id="rId7" Type="http://schemas.openxmlformats.org/officeDocument/2006/relationships/image" Target="../media/image63.jpg"/><Relationship Id="rId8" Type="http://schemas.openxmlformats.org/officeDocument/2006/relationships/image" Target="../media/image62.jp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9" Type="http://schemas.openxmlformats.org/officeDocument/2006/relationships/image" Target="../media/image46.png"/><Relationship Id="rId5" Type="http://schemas.openxmlformats.org/officeDocument/2006/relationships/image" Target="../media/image29.jpg"/><Relationship Id="rId6" Type="http://schemas.openxmlformats.org/officeDocument/2006/relationships/image" Target="../media/image30.png"/><Relationship Id="rId7" Type="http://schemas.openxmlformats.org/officeDocument/2006/relationships/image" Target="../media/image63.jpg"/><Relationship Id="rId8" Type="http://schemas.openxmlformats.org/officeDocument/2006/relationships/image" Target="../media/image6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9" Type="http://schemas.openxmlformats.org/officeDocument/2006/relationships/image" Target="../media/image48.png"/><Relationship Id="rId5" Type="http://schemas.openxmlformats.org/officeDocument/2006/relationships/image" Target="../media/image29.jpg"/><Relationship Id="rId6" Type="http://schemas.openxmlformats.org/officeDocument/2006/relationships/image" Target="../media/image30.png"/><Relationship Id="rId7" Type="http://schemas.openxmlformats.org/officeDocument/2006/relationships/image" Target="../media/image63.jpg"/><Relationship Id="rId8" Type="http://schemas.openxmlformats.org/officeDocument/2006/relationships/image" Target="../media/image6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192" y="381000"/>
            <a:ext cx="9144143" cy="4762500"/>
            <a:chOff x="5238750" y="381000"/>
            <a:chExt cx="3905250" cy="4762500"/>
          </a:xfrm>
        </p:grpSpPr>
        <p:sp>
          <p:nvSpPr>
            <p:cNvPr id="56" name="Google Shape;56;p14"/>
            <p:cNvSpPr/>
            <p:nvPr/>
          </p:nvSpPr>
          <p:spPr>
            <a:xfrm>
              <a:off x="6462713" y="1700213"/>
              <a:ext cx="28500" cy="28500"/>
            </a:xfrm>
            <a:prstGeom prst="ellipse">
              <a:avLst/>
            </a:prstGeom>
            <a:solidFill>
              <a:srgbClr val="FACC1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6843713" y="2271713"/>
              <a:ext cx="28500" cy="28500"/>
            </a:xfrm>
            <a:prstGeom prst="ellipse">
              <a:avLst/>
            </a:prstGeom>
            <a:solidFill>
              <a:srgbClr val="FACC15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6176963" y="2938463"/>
              <a:ext cx="28500" cy="28500"/>
            </a:xfrm>
            <a:prstGeom prst="ellipse">
              <a:avLst/>
            </a:prstGeom>
            <a:solidFill>
              <a:srgbClr val="FACC15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7605713" y="1414463"/>
              <a:ext cx="28500" cy="28500"/>
            </a:xfrm>
            <a:prstGeom prst="ellipse">
              <a:avLst/>
            </a:prstGeom>
            <a:solidFill>
              <a:srgbClr val="FACC15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7415213" y="3605213"/>
              <a:ext cx="28500" cy="28500"/>
            </a:xfrm>
            <a:prstGeom prst="ellipse">
              <a:avLst/>
            </a:prstGeom>
            <a:solidFill>
              <a:srgbClr val="FACC1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0" y="476250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0" y="4381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58000" y="3810000"/>
              <a:ext cx="22860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10500" y="304800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4"/>
            <p:cNvSpPr/>
            <p:nvPr/>
          </p:nvSpPr>
          <p:spPr>
            <a:xfrm>
              <a:off x="6419850" y="4514850"/>
              <a:ext cx="114300" cy="114300"/>
            </a:xfrm>
            <a:prstGeom prst="ellipse">
              <a:avLst/>
            </a:prstGeom>
            <a:solidFill>
              <a:srgbClr val="FACC1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7096125" y="3952875"/>
              <a:ext cx="95400" cy="95400"/>
            </a:xfrm>
            <a:prstGeom prst="ellipse">
              <a:avLst/>
            </a:prstGeom>
            <a:solidFill>
              <a:srgbClr val="FACC1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7934325" y="3267075"/>
              <a:ext cx="133500" cy="133500"/>
            </a:xfrm>
            <a:prstGeom prst="ellipse">
              <a:avLst/>
            </a:prstGeom>
            <a:solidFill>
              <a:srgbClr val="FACC1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8534400" y="2819400"/>
              <a:ext cx="76200" cy="76200"/>
            </a:xfrm>
            <a:prstGeom prst="ellipse">
              <a:avLst/>
            </a:prstGeom>
            <a:solidFill>
              <a:srgbClr val="FACC1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5762625" y="4810125"/>
              <a:ext cx="95400" cy="95400"/>
            </a:xfrm>
            <a:prstGeom prst="ellipse">
              <a:avLst/>
            </a:prstGeom>
            <a:solidFill>
              <a:srgbClr val="FACC1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962650" y="4676775"/>
              <a:ext cx="76200" cy="76200"/>
            </a:xfrm>
            <a:prstGeom prst="ellipse">
              <a:avLst/>
            </a:prstGeom>
            <a:solidFill>
              <a:srgbClr val="FACC1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353175" y="4114800"/>
              <a:ext cx="57300" cy="57300"/>
            </a:xfrm>
            <a:prstGeom prst="ellipse">
              <a:avLst/>
            </a:prstGeom>
            <a:solidFill>
              <a:srgbClr val="FACC15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7486650" y="3152775"/>
              <a:ext cx="76200" cy="76200"/>
            </a:xfrm>
            <a:prstGeom prst="ellipse">
              <a:avLst/>
            </a:prstGeom>
            <a:solidFill>
              <a:srgbClr val="FACC15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734300" y="2590800"/>
              <a:ext cx="57300" cy="57300"/>
            </a:xfrm>
            <a:prstGeom prst="ellipse">
              <a:avLst/>
            </a:prstGeom>
            <a:solidFill>
              <a:srgbClr val="FACC15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724650" y="3533775"/>
              <a:ext cx="76200" cy="76200"/>
            </a:xfrm>
            <a:prstGeom prst="ellipse">
              <a:avLst/>
            </a:prstGeom>
            <a:solidFill>
              <a:srgbClr val="FACC15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6972300" y="2876550"/>
              <a:ext cx="57300" cy="57300"/>
            </a:xfrm>
            <a:prstGeom prst="ellipse">
              <a:avLst/>
            </a:prstGeom>
            <a:solidFill>
              <a:srgbClr val="FACC15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7248525" y="2105025"/>
              <a:ext cx="76200" cy="76200"/>
            </a:xfrm>
            <a:prstGeom prst="ellipse">
              <a:avLst/>
            </a:prstGeom>
            <a:solidFill>
              <a:srgbClr val="FACC1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8210550" y="1828800"/>
              <a:ext cx="57300" cy="57300"/>
            </a:xfrm>
            <a:prstGeom prst="ellipse">
              <a:avLst/>
            </a:prstGeom>
            <a:solidFill>
              <a:srgbClr val="FACC15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" name="Google Shape;78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710238" y="381000"/>
              <a:ext cx="9600" cy="438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853238" y="381000"/>
              <a:ext cx="9600" cy="438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96238" y="381000"/>
              <a:ext cx="9600" cy="438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238750" y="1138238"/>
              <a:ext cx="34671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238750" y="2281238"/>
              <a:ext cx="34671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238750" y="3424238"/>
              <a:ext cx="3467100" cy="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" name="Google Shape;84;p14"/>
          <p:cNvGrpSpPr/>
          <p:nvPr/>
        </p:nvGrpSpPr>
        <p:grpSpPr>
          <a:xfrm>
            <a:off x="175571" y="586516"/>
            <a:ext cx="8793390" cy="2612172"/>
            <a:chOff x="619125" y="1047750"/>
            <a:chExt cx="4810125" cy="1428900"/>
          </a:xfrm>
        </p:grpSpPr>
        <p:sp>
          <p:nvSpPr>
            <p:cNvPr id="85" name="Google Shape;85;p14"/>
            <p:cNvSpPr/>
            <p:nvPr/>
          </p:nvSpPr>
          <p:spPr>
            <a:xfrm>
              <a:off x="619125" y="1095375"/>
              <a:ext cx="38100" cy="950100"/>
            </a:xfrm>
            <a:prstGeom prst="rect">
              <a:avLst/>
            </a:prstGeom>
            <a:solidFill>
              <a:srgbClr val="FACC1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826959" y="1047750"/>
              <a:ext cx="4572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8409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</a:t>
              </a:r>
              <a:r>
                <a:rPr b="1" lang="cs" sz="8409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alling sand.</a:t>
              </a:r>
              <a:endParaRPr b="1" sz="8409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7" name="Google Shape;87;p14"/>
            <p:cNvSpPr txBox="1"/>
            <p:nvPr/>
          </p:nvSpPr>
          <p:spPr>
            <a:xfrm>
              <a:off x="857250" y="1284300"/>
              <a:ext cx="457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" sz="3656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adee´s</a:t>
              </a:r>
              <a:endParaRPr b="0" sz="3656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5"/>
          <p:cNvGrpSpPr/>
          <p:nvPr/>
        </p:nvGrpSpPr>
        <p:grpSpPr>
          <a:xfrm>
            <a:off x="0" y="0"/>
            <a:ext cx="9115500" cy="5115000"/>
            <a:chOff x="0" y="0"/>
            <a:chExt cx="9115500" cy="5115000"/>
          </a:xfrm>
        </p:grpSpPr>
        <p:pic>
          <p:nvPicPr>
            <p:cNvPr id="93" name="Google Shape;93;p15"/>
            <p:cNvPicPr preferRelativeResize="0"/>
            <p:nvPr/>
          </p:nvPicPr>
          <p:blipFill rotWithShape="1">
            <a:blip r:embed="rId3">
              <a:alphaModFix/>
            </a:blip>
            <a:srcRect b="387" l="-11300000" r="-79509088" t="397"/>
            <a:stretch/>
          </p:blipFill>
          <p:spPr>
            <a:xfrm>
              <a:off x="0" y="0"/>
              <a:ext cx="9115500" cy="51150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pic>
          <p:nvPicPr>
            <p:cNvPr id="94" name="Google Shape;94;p15"/>
            <p:cNvPicPr preferRelativeResize="0"/>
            <p:nvPr/>
          </p:nvPicPr>
          <p:blipFill rotWithShape="1">
            <a:blip r:embed="rId3">
              <a:alphaModFix/>
            </a:blip>
            <a:srcRect b="387" l="-34100000" r="-56709092" t="397"/>
            <a:stretch/>
          </p:blipFill>
          <p:spPr>
            <a:xfrm>
              <a:off x="0" y="0"/>
              <a:ext cx="9115500" cy="51150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pic>
          <p:nvPicPr>
            <p:cNvPr id="95" name="Google Shape;95;p15"/>
            <p:cNvPicPr preferRelativeResize="0"/>
            <p:nvPr/>
          </p:nvPicPr>
          <p:blipFill rotWithShape="1">
            <a:blip r:embed="rId3">
              <a:alphaModFix/>
            </a:blip>
            <a:srcRect b="387" l="-56900000" r="-33909092" t="397"/>
            <a:stretch/>
          </p:blipFill>
          <p:spPr>
            <a:xfrm>
              <a:off x="0" y="0"/>
              <a:ext cx="9115500" cy="51150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pic>
          <p:nvPicPr>
            <p:cNvPr id="96" name="Google Shape;96;p15"/>
            <p:cNvPicPr preferRelativeResize="0"/>
            <p:nvPr/>
          </p:nvPicPr>
          <p:blipFill rotWithShape="1">
            <a:blip r:embed="rId3">
              <a:alphaModFix/>
            </a:blip>
            <a:srcRect b="387" l="-79700000" r="-11109092" t="397"/>
            <a:stretch/>
          </p:blipFill>
          <p:spPr>
            <a:xfrm>
              <a:off x="0" y="0"/>
              <a:ext cx="9115500" cy="51150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pic>
          <p:nvPicPr>
            <p:cNvPr id="97" name="Google Shape;97;p15"/>
            <p:cNvPicPr preferRelativeResize="0"/>
            <p:nvPr/>
          </p:nvPicPr>
          <p:blipFill rotWithShape="1">
            <a:blip r:embed="rId4">
              <a:alphaModFix/>
            </a:blip>
            <a:srcRect b="-40868420" l="387" r="397" t="-11663157"/>
            <a:stretch/>
          </p:blipFill>
          <p:spPr>
            <a:xfrm>
              <a:off x="0" y="0"/>
              <a:ext cx="9115500" cy="51150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pic>
          <p:nvPicPr>
            <p:cNvPr id="98" name="Google Shape;98;p15"/>
            <p:cNvPicPr preferRelativeResize="0"/>
            <p:nvPr/>
          </p:nvPicPr>
          <p:blipFill rotWithShape="1">
            <a:blip r:embed="rId4">
              <a:alphaModFix/>
            </a:blip>
            <a:srcRect b="-25184210" l="387" r="397" t="-27347368"/>
            <a:stretch/>
          </p:blipFill>
          <p:spPr>
            <a:xfrm>
              <a:off x="0" y="0"/>
              <a:ext cx="9115500" cy="51150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pic>
          <p:nvPicPr>
            <p:cNvPr id="99" name="Google Shape;99;p15"/>
            <p:cNvPicPr preferRelativeResize="0"/>
            <p:nvPr/>
          </p:nvPicPr>
          <p:blipFill rotWithShape="1">
            <a:blip r:embed="rId4">
              <a:alphaModFix/>
            </a:blip>
            <a:srcRect b="-9505262" l="387" r="397" t="-43026316"/>
            <a:stretch/>
          </p:blipFill>
          <p:spPr>
            <a:xfrm>
              <a:off x="0" y="0"/>
              <a:ext cx="9115500" cy="51150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</p:grpSp>
      <p:sp>
        <p:nvSpPr>
          <p:cNvPr id="100" name="Google Shape;100;p15"/>
          <p:cNvSpPr/>
          <p:nvPr/>
        </p:nvSpPr>
        <p:spPr>
          <a:xfrm>
            <a:off x="381000" y="333375"/>
            <a:ext cx="573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" y="285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8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was ist das?!</a:t>
            </a:r>
            <a:endParaRPr b="1" sz="2800">
              <a:solidFill>
                <a:srgbClr val="FACC1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02" name="Google Shape;102;p15"/>
          <p:cNvGrpSpPr/>
          <p:nvPr/>
        </p:nvGrpSpPr>
        <p:grpSpPr>
          <a:xfrm>
            <a:off x="476250" y="1047750"/>
            <a:ext cx="3905400" cy="3619500"/>
            <a:chOff x="476250" y="1047750"/>
            <a:chExt cx="3905400" cy="3619500"/>
          </a:xfrm>
        </p:grpSpPr>
        <p:sp>
          <p:nvSpPr>
            <p:cNvPr id="103" name="Google Shape;103;p15"/>
            <p:cNvSpPr/>
            <p:nvPr/>
          </p:nvSpPr>
          <p:spPr>
            <a:xfrm>
              <a:off x="476250" y="1047750"/>
              <a:ext cx="3905400" cy="3619500"/>
            </a:xfrm>
            <a:prstGeom prst="roundRect">
              <a:avLst>
                <a:gd fmla="val 1578" name="adj"/>
              </a:avLst>
            </a:prstGeom>
            <a:solidFill>
              <a:srgbClr val="1E293B"/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476250" y="1047750"/>
              <a:ext cx="3905400" cy="381000"/>
            </a:xfrm>
            <a:prstGeom prst="roundRect">
              <a:avLst>
                <a:gd fmla="val 15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666750" y="1619250"/>
              <a:ext cx="3524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9561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18"/>
                <a:buFont typeface="Courier New"/>
                <a:buChar char="●"/>
              </a:pPr>
              <a:r>
                <a:rPr b="1" lang="cs" sz="1118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jednoduchá "cellular automata" (celulární automat) hra.</a:t>
              </a:r>
              <a:endParaRPr b="1" sz="1118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9561" lvl="0" marL="457200" rtl="0" algn="l">
                <a:spcBef>
                  <a:spcPts val="900"/>
                </a:spcBef>
                <a:spcAft>
                  <a:spcPts val="0"/>
                </a:spcAft>
                <a:buClr>
                  <a:schemeClr val="lt1"/>
                </a:buClr>
                <a:buSzPts val="1118"/>
                <a:buFont typeface="Courier New"/>
                <a:buChar char="●"/>
              </a:pPr>
              <a:r>
                <a:rPr b="1" lang="cs" sz="1118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svět je rozdělen na mřížku (grid). </a:t>
              </a:r>
              <a:endParaRPr b="1" sz="1118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9561" lvl="0" marL="457200" rtl="0" algn="l">
                <a:spcBef>
                  <a:spcPts val="900"/>
                </a:spcBef>
                <a:spcAft>
                  <a:spcPts val="0"/>
                </a:spcAft>
                <a:buClr>
                  <a:schemeClr val="lt1"/>
                </a:buClr>
                <a:buSzPts val="1118"/>
                <a:buFont typeface="Courier New"/>
                <a:buChar char="●"/>
              </a:pPr>
              <a:r>
                <a:rPr b="1" lang="cs" sz="1118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každá buňka má svůj stav materiál: písek, voda, oheň, atd. </a:t>
              </a:r>
              <a:endParaRPr b="1" sz="1118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9561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chemeClr val="lt1"/>
                </a:buClr>
                <a:buSzPts val="1118"/>
                <a:buFont typeface="Courier New"/>
                <a:buChar char="●"/>
              </a:pPr>
              <a:r>
                <a:rPr b="1" lang="cs" sz="1118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každý snímek simulace kontroluje pravidla sousedství</a:t>
              </a:r>
              <a:br>
                <a:rPr b="1" lang="cs" sz="1118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cs" sz="1118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(např. písek padá dolů, voda se rozlévá do stran).  </a:t>
              </a:r>
              <a:endParaRPr b="0" sz="1118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4667250" y="1047750"/>
            <a:ext cx="4000500" cy="3619500"/>
            <a:chOff x="4667250" y="1047750"/>
            <a:chExt cx="4000500" cy="3619500"/>
          </a:xfrm>
        </p:grpSpPr>
        <p:sp>
          <p:nvSpPr>
            <p:cNvPr id="107" name="Google Shape;107;p15"/>
            <p:cNvSpPr/>
            <p:nvPr/>
          </p:nvSpPr>
          <p:spPr>
            <a:xfrm>
              <a:off x="4667250" y="1047750"/>
              <a:ext cx="4000500" cy="3619500"/>
            </a:xfrm>
            <a:prstGeom prst="roundRect">
              <a:avLst>
                <a:gd fmla="val 1578" name="adj"/>
              </a:avLst>
            </a:prstGeom>
            <a:solidFill>
              <a:srgbClr val="1E293B"/>
            </a:solidFill>
            <a:ln cap="flat" cmpd="sng" w="1905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high-tech, modern flat 2D vector graphic illustration of a falling sand game interface. Show colorful falling digital pixel particles in shades of yellow, blue, and red cascading down a dark grid screen, creating fluid-like simulations and interacting with neon barriers. Clean UI aesthetic, vibrant glowing colors, minimal style." id="108" name="Google Shape;108;p15"/>
            <p:cNvPicPr preferRelativeResize="0"/>
            <p:nvPr/>
          </p:nvPicPr>
          <p:blipFill rotWithShape="1">
            <a:blip r:embed="rId5">
              <a:alphaModFix/>
            </a:blip>
            <a:srcRect b="4995" l="0" r="0" t="5004"/>
            <a:stretch/>
          </p:blipFill>
          <p:spPr>
            <a:xfrm>
              <a:off x="4762500" y="1143000"/>
              <a:ext cx="3810000" cy="3429000"/>
            </a:xfrm>
            <a:prstGeom prst="roundRect">
              <a:avLst>
                <a:gd fmla="val 1666" name="adj"/>
              </a:avLst>
            </a:prstGeom>
            <a:noFill/>
            <a:ln>
              <a:noFill/>
            </a:ln>
          </p:spPr>
        </p:pic>
        <p:sp>
          <p:nvSpPr>
            <p:cNvPr id="109" name="Google Shape;109;p15"/>
            <p:cNvSpPr/>
            <p:nvPr/>
          </p:nvSpPr>
          <p:spPr>
            <a:xfrm>
              <a:off x="4762500" y="1143000"/>
              <a:ext cx="3810000" cy="3429000"/>
            </a:xfrm>
            <a:prstGeom prst="roundRect">
              <a:avLst>
                <a:gd fmla="val 1666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6"/>
          <p:cNvGrpSpPr/>
          <p:nvPr/>
        </p:nvGrpSpPr>
        <p:grpSpPr>
          <a:xfrm>
            <a:off x="0" y="0"/>
            <a:ext cx="9105900" cy="5143500"/>
            <a:chOff x="0" y="0"/>
            <a:chExt cx="9105900" cy="5143500"/>
          </a:xfrm>
        </p:grpSpPr>
        <p:pic>
          <p:nvPicPr>
            <p:cNvPr id="115" name="Google Shape;115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8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24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0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96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138238"/>
              <a:ext cx="9105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662238"/>
              <a:ext cx="9105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4186238"/>
              <a:ext cx="9105900" cy="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" name="Google Shape;122;p16"/>
          <p:cNvSpPr/>
          <p:nvPr/>
        </p:nvSpPr>
        <p:spPr>
          <a:xfrm>
            <a:off x="381000" y="333375"/>
            <a:ext cx="573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285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8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back 2 boomers´ youth.</a:t>
            </a:r>
            <a:endParaRPr b="1" sz="2800">
              <a:solidFill>
                <a:srgbClr val="FACC1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24" name="Google Shape;124;p16"/>
          <p:cNvGrpSpPr/>
          <p:nvPr/>
        </p:nvGrpSpPr>
        <p:grpSpPr>
          <a:xfrm>
            <a:off x="476250" y="1047750"/>
            <a:ext cx="3905400" cy="3619500"/>
            <a:chOff x="476250" y="1047750"/>
            <a:chExt cx="3905400" cy="3619500"/>
          </a:xfrm>
        </p:grpSpPr>
        <p:sp>
          <p:nvSpPr>
            <p:cNvPr id="125" name="Google Shape;125;p16"/>
            <p:cNvSpPr/>
            <p:nvPr/>
          </p:nvSpPr>
          <p:spPr>
            <a:xfrm>
              <a:off x="476250" y="1047750"/>
              <a:ext cx="3905400" cy="3619500"/>
            </a:xfrm>
            <a:prstGeom prst="roundRect">
              <a:avLst>
                <a:gd fmla="val 1578" name="adj"/>
              </a:avLst>
            </a:prstGeom>
            <a:solidFill>
              <a:srgbClr val="1E293B"/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476250" y="1047750"/>
              <a:ext cx="3905400" cy="381000"/>
            </a:xfrm>
            <a:prstGeom prst="roundRect">
              <a:avLst>
                <a:gd fmla="val 15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666750" y="1619250"/>
              <a:ext cx="3524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ourier New"/>
                <a:buChar char="●"/>
              </a:pPr>
              <a:r>
                <a:rPr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žánr vznikl na konci 90. let </a:t>
              </a:r>
              <a:endPara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ourier New"/>
                <a:buChar char="●"/>
              </a:pPr>
              <a:r>
                <a:rPr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skvělý příklad toho, jak jednoduchá pravidla vytvářejí komplexní chování (tzv. "emergentní hratelnost").</a:t>
              </a:r>
              <a:endPara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ourier New"/>
                <a:buChar char="●"/>
              </a:pPr>
              <a:r>
                <a:rPr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hry tohoto typu jsou předchůdci dnešních moderních simulátorů materiálů a fyziky tekutin ve velkých hrách.  </a:t>
              </a:r>
              <a:endPara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chemeClr val="lt1"/>
                </a:buClr>
                <a:buSzPts val="1100"/>
                <a:buFont typeface="Courier New"/>
                <a:buChar char="●"/>
              </a:pPr>
              <a:r>
                <a:rPr i="1"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falling sand game</a:t>
              </a:r>
              <a:r>
                <a:rPr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od oniba.com  </a:t>
              </a:r>
              <a:endPara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4667250" y="1047750"/>
            <a:ext cx="4000500" cy="3619500"/>
            <a:chOff x="4667250" y="1047750"/>
            <a:chExt cx="4000500" cy="3619500"/>
          </a:xfrm>
        </p:grpSpPr>
        <p:sp>
          <p:nvSpPr>
            <p:cNvPr id="129" name="Google Shape;129;p16"/>
            <p:cNvSpPr/>
            <p:nvPr/>
          </p:nvSpPr>
          <p:spPr>
            <a:xfrm>
              <a:off x="4667250" y="1047750"/>
              <a:ext cx="4000500" cy="3619500"/>
            </a:xfrm>
            <a:prstGeom prst="roundRect">
              <a:avLst>
                <a:gd fmla="val 1578" name="adj"/>
              </a:avLst>
            </a:prstGeom>
            <a:solidFill>
              <a:srgbClr val="1E293B"/>
            </a:solidFill>
            <a:ln cap="flat" cmpd="sng" w="1905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n atmospheric, nostalgic close-up photo of a classic 1980s or 1990s retro arcade cabinet screen displaying a colorful, pixelated falling sand game physics simulation. The cabinet has glowing neon lights and a retro CRT screen glow in a dimly lit retro arcade." id="130" name="Google Shape;130;p16"/>
            <p:cNvPicPr preferRelativeResize="0"/>
            <p:nvPr/>
          </p:nvPicPr>
          <p:blipFill rotWithShape="1">
            <a:blip r:embed="rId5">
              <a:alphaModFix/>
            </a:blip>
            <a:srcRect b="0" l="8333" r="8333" t="0"/>
            <a:stretch/>
          </p:blipFill>
          <p:spPr>
            <a:xfrm>
              <a:off x="4762500" y="1143000"/>
              <a:ext cx="3810000" cy="3429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16"/>
            <p:cNvSpPr/>
            <p:nvPr/>
          </p:nvSpPr>
          <p:spPr>
            <a:xfrm>
              <a:off x="4762500" y="1143000"/>
              <a:ext cx="3810000" cy="3429000"/>
            </a:xfrm>
            <a:prstGeom prst="roundRect">
              <a:avLst>
                <a:gd fmla="val 1111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7" name="Google Shape;137;p17"/>
            <p:cNvSpPr/>
            <p:nvPr/>
          </p:nvSpPr>
          <p:spPr>
            <a:xfrm>
              <a:off x="1143000" y="0"/>
              <a:ext cx="9600" cy="5143500"/>
            </a:xfrm>
            <a:prstGeom prst="rect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3429000" y="0"/>
              <a:ext cx="9600" cy="5143500"/>
            </a:xfrm>
            <a:prstGeom prst="rect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5715000" y="0"/>
              <a:ext cx="9600" cy="5143500"/>
            </a:xfrm>
            <a:prstGeom prst="rect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8001000" y="0"/>
              <a:ext cx="9600" cy="5143500"/>
            </a:xfrm>
            <a:prstGeom prst="rect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0" y="1143000"/>
              <a:ext cx="9144000" cy="9600"/>
            </a:xfrm>
            <a:prstGeom prst="rect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0" y="2667000"/>
              <a:ext cx="9144000" cy="9600"/>
            </a:xfrm>
            <a:prstGeom prst="rect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0" y="4191000"/>
              <a:ext cx="9144000" cy="9600"/>
            </a:xfrm>
            <a:prstGeom prst="rect">
              <a:avLst/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17"/>
          <p:cNvSpPr/>
          <p:nvPr/>
        </p:nvSpPr>
        <p:spPr>
          <a:xfrm>
            <a:off x="381000" y="333375"/>
            <a:ext cx="573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285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8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let me cook!</a:t>
            </a:r>
            <a:endParaRPr b="1" sz="2800">
              <a:solidFill>
                <a:srgbClr val="FACC1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46" name="Google Shape;146;p17"/>
          <p:cNvGrpSpPr/>
          <p:nvPr/>
        </p:nvGrpSpPr>
        <p:grpSpPr>
          <a:xfrm>
            <a:off x="476250" y="1047750"/>
            <a:ext cx="3905400" cy="3619500"/>
            <a:chOff x="476250" y="1047750"/>
            <a:chExt cx="3905400" cy="3619500"/>
          </a:xfrm>
        </p:grpSpPr>
        <p:sp>
          <p:nvSpPr>
            <p:cNvPr id="147" name="Google Shape;147;p17"/>
            <p:cNvSpPr/>
            <p:nvPr/>
          </p:nvSpPr>
          <p:spPr>
            <a:xfrm>
              <a:off x="476250" y="1047750"/>
              <a:ext cx="3905400" cy="3619500"/>
            </a:xfrm>
            <a:prstGeom prst="roundRect">
              <a:avLst>
                <a:gd fmla="val 1578" name="adj"/>
              </a:avLst>
            </a:prstGeom>
            <a:solidFill>
              <a:srgbClr val="1E293B"/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476250" y="1047750"/>
              <a:ext cx="3905400" cy="381000"/>
            </a:xfrm>
            <a:prstGeom prst="roundRect">
              <a:avLst>
                <a:gd fmla="val 15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666750" y="1619250"/>
              <a:ext cx="3524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2860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jazyk:</a:t>
              </a:r>
              <a:r>
                <a:rPr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c++ (pro maximální výkon při tisících částic).</a:t>
              </a:r>
              <a:endPara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28600" lvl="0" marL="45720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grafika:</a:t>
              </a:r>
              <a:r>
                <a:rPr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SFML 3 (simple and fast multimedia library).</a:t>
              </a:r>
              <a:endPara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28600" lvl="0" marL="45720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struktura:</a:t>
              </a:r>
              <a:r>
                <a:rPr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objektově orientovaný přístup</a:t>
              </a:r>
              <a:endPara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Char char="●"/>
              </a:pPr>
              <a:r>
                <a:rPr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game: řízení okna, vstupy (myš/klávesnice).</a:t>
              </a:r>
              <a:endPara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Char char="●"/>
              </a:pPr>
              <a:r>
                <a:rPr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sandbox: jádro fyziky a vykreslování pixelů.</a:t>
              </a:r>
              <a:endPara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změna rozlišení:</a:t>
              </a:r>
              <a:r>
                <a:rPr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Vnitřní mřížka 480x270, škáluje se na 1080p.</a:t>
              </a:r>
              <a:endPara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t/>
              </a:r>
              <a:endParaRPr b="1" sz="1018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50" name="Google Shape;150;p17"/>
          <p:cNvGrpSpPr/>
          <p:nvPr/>
        </p:nvGrpSpPr>
        <p:grpSpPr>
          <a:xfrm>
            <a:off x="4667250" y="1047750"/>
            <a:ext cx="4000500" cy="3619500"/>
            <a:chOff x="4667250" y="1047750"/>
            <a:chExt cx="4000500" cy="3619500"/>
          </a:xfrm>
        </p:grpSpPr>
        <p:sp>
          <p:nvSpPr>
            <p:cNvPr id="151" name="Google Shape;151;p17"/>
            <p:cNvSpPr/>
            <p:nvPr/>
          </p:nvSpPr>
          <p:spPr>
            <a:xfrm>
              <a:off x="4667250" y="1047750"/>
              <a:ext cx="4000500" cy="3619500"/>
            </a:xfrm>
            <a:prstGeom prst="roundRect">
              <a:avLst>
                <a:gd fmla="val 1578" name="adj"/>
              </a:avLst>
            </a:prstGeom>
            <a:solidFill>
              <a:srgbClr val="1E293B"/>
            </a:solidFill>
            <a:ln cap="flat" cmpd="sng" w="1905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lose-up of developer workspace screen showing complex JavaScript code editor with colorful glowing syntax highlighting, programming cellular automata simulation rules, dark UI design theme with subtle matrix/grid cyber pattern overlaid, neon colors." id="152" name="Google Shape;152;p17"/>
            <p:cNvPicPr preferRelativeResize="0"/>
            <p:nvPr/>
          </p:nvPicPr>
          <p:blipFill rotWithShape="1">
            <a:blip r:embed="rId3">
              <a:alphaModFix/>
            </a:blip>
            <a:srcRect b="4995" l="0" r="0" t="5004"/>
            <a:stretch/>
          </p:blipFill>
          <p:spPr>
            <a:xfrm>
              <a:off x="4762500" y="1143000"/>
              <a:ext cx="3810000" cy="3429000"/>
            </a:xfrm>
            <a:prstGeom prst="roundRect">
              <a:avLst>
                <a:gd fmla="val 1666" name="adj"/>
              </a:avLst>
            </a:prstGeom>
            <a:noFill/>
            <a:ln>
              <a:noFill/>
            </a:ln>
          </p:spPr>
        </p:pic>
        <p:sp>
          <p:nvSpPr>
            <p:cNvPr id="153" name="Google Shape;153;p17"/>
            <p:cNvSpPr/>
            <p:nvPr/>
          </p:nvSpPr>
          <p:spPr>
            <a:xfrm>
              <a:off x="4762500" y="1143000"/>
              <a:ext cx="3810000" cy="3429000"/>
            </a:xfrm>
            <a:prstGeom prst="roundRect">
              <a:avLst>
                <a:gd fmla="val 1666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8"/>
          <p:cNvGrpSpPr/>
          <p:nvPr/>
        </p:nvGrpSpPr>
        <p:grpSpPr>
          <a:xfrm>
            <a:off x="0" y="0"/>
            <a:ext cx="9115500" cy="5115000"/>
            <a:chOff x="0" y="0"/>
            <a:chExt cx="9115500" cy="5115000"/>
          </a:xfrm>
        </p:grpSpPr>
        <p:pic>
          <p:nvPicPr>
            <p:cNvPr id="159" name="Google Shape;15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3475" y="0"/>
              <a:ext cx="9600" cy="511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19475" y="0"/>
              <a:ext cx="9600" cy="511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05475" y="0"/>
              <a:ext cx="9600" cy="511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91475" y="0"/>
              <a:ext cx="9600" cy="511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133475"/>
              <a:ext cx="91155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657475"/>
              <a:ext cx="91155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4181475"/>
              <a:ext cx="9115500" cy="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18"/>
          <p:cNvSpPr/>
          <p:nvPr/>
        </p:nvSpPr>
        <p:spPr>
          <a:xfrm>
            <a:off x="381000" y="333375"/>
            <a:ext cx="573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285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8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physics lesson</a:t>
            </a:r>
            <a:endParaRPr b="1" sz="2800">
              <a:solidFill>
                <a:srgbClr val="FACC1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68" name="Google Shape;168;p18"/>
          <p:cNvGrpSpPr/>
          <p:nvPr/>
        </p:nvGrpSpPr>
        <p:grpSpPr>
          <a:xfrm>
            <a:off x="476250" y="1047750"/>
            <a:ext cx="3905400" cy="3619500"/>
            <a:chOff x="476250" y="1047750"/>
            <a:chExt cx="3905400" cy="3619500"/>
          </a:xfrm>
        </p:grpSpPr>
        <p:sp>
          <p:nvSpPr>
            <p:cNvPr id="169" name="Google Shape;169;p18"/>
            <p:cNvSpPr/>
            <p:nvPr/>
          </p:nvSpPr>
          <p:spPr>
            <a:xfrm>
              <a:off x="476250" y="1047750"/>
              <a:ext cx="3905400" cy="3619500"/>
            </a:xfrm>
            <a:prstGeom prst="roundRect">
              <a:avLst>
                <a:gd fmla="val 1578" name="adj"/>
              </a:avLst>
            </a:prstGeom>
            <a:solidFill>
              <a:srgbClr val="1E293B"/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476250" y="1047750"/>
              <a:ext cx="3905400" cy="381000"/>
            </a:xfrm>
            <a:prstGeom prst="roundRect">
              <a:avLst>
                <a:gd fmla="val 15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666750" y="104775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666750" y="1619250"/>
              <a:ext cx="3524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ourier New"/>
                <a:buChar char="●"/>
              </a:pPr>
              <a:r>
                <a:rPr b="1"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odspodu nahoru:</a:t>
              </a:r>
              <a:r>
                <a:rPr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pevné látky a kapaliny padají (aby částice nepropadly celou obrazovkou najednou). </a:t>
              </a:r>
              <a:endPara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ourier New"/>
                <a:buChar char="●"/>
              </a:pPr>
              <a:r>
                <a:rPr b="1"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odshora dolů:</a:t>
              </a:r>
              <a:r>
                <a:rPr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plyny (kouř, pára) stoupají vzhůru. </a:t>
              </a:r>
              <a:endPara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chemeClr val="lt1"/>
                </a:buClr>
                <a:buSzPts val="1100"/>
                <a:buFont typeface="Courier New"/>
                <a:buChar char="●"/>
              </a:pPr>
              <a:r>
                <a:rPr b="1"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interakce:</a:t>
              </a:r>
              <a:r>
                <a:rPr lang="cs" sz="11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oheň + dřevo = hoření (kouř), voda + oheň = pára. </a:t>
              </a:r>
              <a:endPara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4667250" y="1047750"/>
            <a:ext cx="4000500" cy="3619500"/>
            <a:chOff x="4667250" y="1047750"/>
            <a:chExt cx="4000500" cy="3619500"/>
          </a:xfrm>
        </p:grpSpPr>
        <p:sp>
          <p:nvSpPr>
            <p:cNvPr id="174" name="Google Shape;174;p18"/>
            <p:cNvSpPr/>
            <p:nvPr/>
          </p:nvSpPr>
          <p:spPr>
            <a:xfrm>
              <a:off x="4667250" y="1047750"/>
              <a:ext cx="4000500" cy="3619500"/>
            </a:xfrm>
            <a:prstGeom prst="roundRect">
              <a:avLst>
                <a:gd fmla="val 1578" name="adj"/>
              </a:avLst>
            </a:prstGeom>
            <a:solidFill>
              <a:srgbClr val="1E293B"/>
            </a:solidFill>
            <a:ln cap="flat" cmpd="sng" w="1905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vibrant, top-down pixel art visualization of a falling sand game physics simulation. Sand particles cascading down, interacting with water streams, fire elements, and stone barriers in a beautiful glowing pixel style." id="175" name="Google Shape;175;p18"/>
            <p:cNvPicPr preferRelativeResize="0"/>
            <p:nvPr/>
          </p:nvPicPr>
          <p:blipFill rotWithShape="1">
            <a:blip r:embed="rId5">
              <a:alphaModFix/>
            </a:blip>
            <a:srcRect b="4995" l="0" r="0" t="5004"/>
            <a:stretch/>
          </p:blipFill>
          <p:spPr>
            <a:xfrm>
              <a:off x="4762500" y="1143000"/>
              <a:ext cx="3810000" cy="3429000"/>
            </a:xfrm>
            <a:prstGeom prst="roundRect">
              <a:avLst>
                <a:gd fmla="val 1666" name="adj"/>
              </a:avLst>
            </a:prstGeom>
            <a:noFill/>
            <a:ln>
              <a:noFill/>
            </a:ln>
          </p:spPr>
        </p:pic>
        <p:sp>
          <p:nvSpPr>
            <p:cNvPr id="176" name="Google Shape;176;p18"/>
            <p:cNvSpPr/>
            <p:nvPr/>
          </p:nvSpPr>
          <p:spPr>
            <a:xfrm>
              <a:off x="4762500" y="1143000"/>
              <a:ext cx="3810000" cy="3429000"/>
            </a:xfrm>
            <a:prstGeom prst="roundRect">
              <a:avLst>
                <a:gd fmla="val 1666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" name="Google Shape;182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183" name="Google Shape;18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8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24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0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96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138238"/>
              <a:ext cx="91440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662238"/>
              <a:ext cx="91440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4186238"/>
              <a:ext cx="9144000" cy="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19"/>
          <p:cNvSpPr/>
          <p:nvPr/>
        </p:nvSpPr>
        <p:spPr>
          <a:xfrm>
            <a:off x="381000" y="333375"/>
            <a:ext cx="573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" y="285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8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controls.</a:t>
            </a:r>
            <a:endParaRPr b="1" sz="2800">
              <a:solidFill>
                <a:srgbClr val="FACC1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92" name="Google Shape;192;p19"/>
          <p:cNvGrpSpPr/>
          <p:nvPr/>
        </p:nvGrpSpPr>
        <p:grpSpPr>
          <a:xfrm>
            <a:off x="571500" y="1047750"/>
            <a:ext cx="3429000" cy="2667000"/>
            <a:chOff x="571500" y="1047750"/>
            <a:chExt cx="3429000" cy="2667000"/>
          </a:xfrm>
        </p:grpSpPr>
        <p:sp>
          <p:nvSpPr>
            <p:cNvPr id="193" name="Google Shape;193;p19"/>
            <p:cNvSpPr/>
            <p:nvPr/>
          </p:nvSpPr>
          <p:spPr>
            <a:xfrm>
              <a:off x="571500" y="1047750"/>
              <a:ext cx="3429000" cy="2667000"/>
            </a:xfrm>
            <a:prstGeom prst="roundRect">
              <a:avLst>
                <a:gd fmla="val 1428" name="adj"/>
              </a:avLst>
            </a:prstGeom>
            <a:solidFill>
              <a:srgbClr val="000000">
                <a:alpha val="4000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762000" y="1238250"/>
              <a:ext cx="3048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98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ovládání hry:</a:t>
              </a:r>
              <a:endParaRPr b="1" sz="98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cs" sz="77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1 - Písek (Sand)</a:t>
              </a:r>
              <a:endParaRPr b="1" sz="77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cs" sz="77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2 - Kámen (Stone)</a:t>
              </a:r>
              <a:endParaRPr b="1" sz="77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cs" sz="77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3 - Dřevo (Wood)</a:t>
              </a:r>
              <a:endParaRPr b="1" sz="77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cs" sz="77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4 - Oheň (Fire)</a:t>
              </a:r>
              <a:endParaRPr b="1" sz="77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cs" sz="77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5 - Voda (Water)</a:t>
              </a:r>
              <a:endParaRPr b="1" sz="77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cs" sz="77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F5 - Resetovat simulaci</a:t>
              </a:r>
              <a:endParaRPr b="1" sz="77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cs" sz="77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▲ - Zvětšení štětce</a:t>
              </a:r>
              <a:endParaRPr b="1" sz="77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cs" sz="77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▼ - Zmenšení štětce</a:t>
              </a:r>
              <a:endParaRPr b="1" sz="77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cs" sz="700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physical sandbox rules.</a:t>
              </a:r>
              <a:endParaRPr b="1" sz="7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95" name="Google Shape;195;p19"/>
          <p:cNvGrpSpPr/>
          <p:nvPr/>
        </p:nvGrpSpPr>
        <p:grpSpPr>
          <a:xfrm>
            <a:off x="4191000" y="1047750"/>
            <a:ext cx="4381500" cy="2667000"/>
            <a:chOff x="4191000" y="1047750"/>
            <a:chExt cx="4381500" cy="2667000"/>
          </a:xfrm>
        </p:grpSpPr>
        <p:pic>
          <p:nvPicPr>
            <p:cNvPr descr="A clean retro-style desktop gaming screen depicting a beautiful neon-colored falling sand and physics fluid simulation inside a window frame, dark pixel art background with interface elements." id="196" name="Google Shape;196;p19"/>
            <p:cNvPicPr preferRelativeResize="0"/>
            <p:nvPr/>
          </p:nvPicPr>
          <p:blipFill rotWithShape="1">
            <a:blip r:embed="rId5">
              <a:alphaModFix/>
            </a:blip>
            <a:srcRect b="0" l="3798" r="3789" t="0"/>
            <a:stretch/>
          </p:blipFill>
          <p:spPr>
            <a:xfrm>
              <a:off x="4191000" y="1047750"/>
              <a:ext cx="4381500" cy="2667000"/>
            </a:xfrm>
            <a:prstGeom prst="roundRect">
              <a:avLst>
                <a:gd fmla="val 1428" name="adj"/>
              </a:avLst>
            </a:prstGeom>
            <a:noFill/>
            <a:ln>
              <a:noFill/>
            </a:ln>
          </p:spPr>
        </p:pic>
        <p:sp>
          <p:nvSpPr>
            <p:cNvPr id="197" name="Google Shape;197;p19"/>
            <p:cNvSpPr/>
            <p:nvPr/>
          </p:nvSpPr>
          <p:spPr>
            <a:xfrm>
              <a:off x="4191000" y="1047750"/>
              <a:ext cx="4381500" cy="2667000"/>
            </a:xfrm>
            <a:prstGeom prst="roundRect">
              <a:avLst>
                <a:gd fmla="val 1428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" name="Google Shape;203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204" name="Google Shape;204;p20"/>
            <p:cNvCxnSpPr/>
            <p:nvPr/>
          </p:nvCxnSpPr>
          <p:spPr>
            <a:xfrm>
              <a:off x="1143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>
              <a:noFill/>
            </a:ln>
          </p:spPr>
        </p:cxnSp>
        <p:cxnSp>
          <p:nvCxnSpPr>
            <p:cNvPr id="205" name="Google Shape;205;p20"/>
            <p:cNvCxnSpPr/>
            <p:nvPr/>
          </p:nvCxnSpPr>
          <p:spPr>
            <a:xfrm>
              <a:off x="3429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>
              <a:noFill/>
            </a:ln>
          </p:spPr>
        </p:cxnSp>
        <p:cxnSp>
          <p:nvCxnSpPr>
            <p:cNvPr id="206" name="Google Shape;206;p20"/>
            <p:cNvCxnSpPr/>
            <p:nvPr/>
          </p:nvCxnSpPr>
          <p:spPr>
            <a:xfrm>
              <a:off x="5715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>
              <a:noFill/>
            </a:ln>
          </p:spPr>
        </p:cxnSp>
        <p:cxnSp>
          <p:nvCxnSpPr>
            <p:cNvPr id="207" name="Google Shape;207;p20"/>
            <p:cNvCxnSpPr/>
            <p:nvPr/>
          </p:nvCxnSpPr>
          <p:spPr>
            <a:xfrm>
              <a:off x="8001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>
              <a:noFill/>
            </a:ln>
          </p:spPr>
        </p:cxnSp>
        <p:cxnSp>
          <p:nvCxnSpPr>
            <p:cNvPr id="208" name="Google Shape;208;p20"/>
            <p:cNvCxnSpPr/>
            <p:nvPr/>
          </p:nvCxnSpPr>
          <p:spPr>
            <a:xfrm>
              <a:off x="0" y="1143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>
              <a:noFill/>
            </a:ln>
          </p:spPr>
        </p:cxnSp>
        <p:cxnSp>
          <p:nvCxnSpPr>
            <p:cNvPr id="209" name="Google Shape;209;p20"/>
            <p:cNvCxnSpPr/>
            <p:nvPr/>
          </p:nvCxnSpPr>
          <p:spPr>
            <a:xfrm>
              <a:off x="0" y="2667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>
              <a:noFill/>
            </a:ln>
          </p:spPr>
        </p:cxnSp>
        <p:cxnSp>
          <p:nvCxnSpPr>
            <p:cNvPr id="210" name="Google Shape;210;p20"/>
            <p:cNvCxnSpPr/>
            <p:nvPr/>
          </p:nvCxnSpPr>
          <p:spPr>
            <a:xfrm>
              <a:off x="0" y="4191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>
              <a:noFill/>
            </a:ln>
          </p:spPr>
        </p:cxnSp>
      </p:grpSp>
      <p:sp>
        <p:nvSpPr>
          <p:cNvPr id="211" name="Google Shape;211;p20"/>
          <p:cNvSpPr/>
          <p:nvPr/>
        </p:nvSpPr>
        <p:spPr>
          <a:xfrm>
            <a:off x="381000" y="333375"/>
            <a:ext cx="573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571500" y="285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8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developer.exe</a:t>
            </a:r>
            <a:endParaRPr b="1" sz="2800">
              <a:solidFill>
                <a:srgbClr val="FACC1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13" name="Google Shape;213;p20"/>
          <p:cNvGrpSpPr/>
          <p:nvPr/>
        </p:nvGrpSpPr>
        <p:grpSpPr>
          <a:xfrm>
            <a:off x="476250" y="1047750"/>
            <a:ext cx="3905400" cy="3619500"/>
            <a:chOff x="476250" y="1047750"/>
            <a:chExt cx="3905400" cy="3619500"/>
          </a:xfrm>
        </p:grpSpPr>
        <p:sp>
          <p:nvSpPr>
            <p:cNvPr id="214" name="Google Shape;214;p20"/>
            <p:cNvSpPr/>
            <p:nvPr/>
          </p:nvSpPr>
          <p:spPr>
            <a:xfrm>
              <a:off x="476250" y="1047750"/>
              <a:ext cx="3905400" cy="3619500"/>
            </a:xfrm>
            <a:prstGeom prst="roundRect">
              <a:avLst>
                <a:gd fmla="val 1578" name="adj"/>
              </a:avLst>
            </a:prstGeom>
            <a:solidFill>
              <a:srgbClr val="1E293B"/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476250" y="1047750"/>
              <a:ext cx="3905400" cy="381000"/>
            </a:xfrm>
            <a:prstGeom prst="roundRect">
              <a:avLst>
                <a:gd fmla="val 15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666750" y="1619250"/>
              <a:ext cx="3524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co mi to dalo?:</a:t>
              </a:r>
              <a:endParaRPr b="1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cs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pochopil jsem práci s pamětí, pochopení simulace v reálném čase a výhody rozdělení kódu do více souborů 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cs" sz="1100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:-)</a:t>
              </a:r>
              <a:endParaRPr b="1" sz="11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17" name="Google Shape;217;p20"/>
          <p:cNvGrpSpPr/>
          <p:nvPr/>
        </p:nvGrpSpPr>
        <p:grpSpPr>
          <a:xfrm>
            <a:off x="4762500" y="1047750"/>
            <a:ext cx="3905400" cy="3619500"/>
            <a:chOff x="4762500" y="1047750"/>
            <a:chExt cx="3905400" cy="3619500"/>
          </a:xfrm>
        </p:grpSpPr>
        <p:pic>
          <p:nvPicPr>
            <p:cNvPr descr="A retro pixel-art style depiction of a thoughtful developer sitting in front of glowing dual monitor screens with green neon code in a dark room. The programmer is staring deep in thought, hand on chin, cybernetic grid aesthetic background." id="218" name="Google Shape;218;p20"/>
            <p:cNvPicPr preferRelativeResize="0"/>
            <p:nvPr/>
          </p:nvPicPr>
          <p:blipFill rotWithShape="1">
            <a:blip r:embed="rId3">
              <a:alphaModFix/>
            </a:blip>
            <a:srcRect b="3652" l="0" r="0" t="3661"/>
            <a:stretch/>
          </p:blipFill>
          <p:spPr>
            <a:xfrm>
              <a:off x="4762500" y="1047750"/>
              <a:ext cx="3905400" cy="3619500"/>
            </a:xfrm>
            <a:prstGeom prst="roundRect">
              <a:avLst>
                <a:gd fmla="val 1578" name="adj"/>
              </a:avLst>
            </a:prstGeom>
            <a:noFill/>
            <a:ln>
              <a:noFill/>
            </a:ln>
          </p:spPr>
        </p:pic>
        <p:sp>
          <p:nvSpPr>
            <p:cNvPr id="219" name="Google Shape;219;p20"/>
            <p:cNvSpPr/>
            <p:nvPr/>
          </p:nvSpPr>
          <p:spPr>
            <a:xfrm>
              <a:off x="4762500" y="1047750"/>
              <a:ext cx="3905400" cy="3619500"/>
            </a:xfrm>
            <a:prstGeom prst="roundRect">
              <a:avLst>
                <a:gd fmla="val 1578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25" name="Google Shape;225;p21"/>
            <p:cNvSpPr/>
            <p:nvPr/>
          </p:nvSpPr>
          <p:spPr>
            <a:xfrm>
              <a:off x="1143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3429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5715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8001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1"/>
            <p:cNvSpPr/>
            <p:nvPr/>
          </p:nvSpPr>
          <p:spPr>
            <a:xfrm>
              <a:off x="0" y="1143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0" y="2667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0" y="4191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21"/>
          <p:cNvSpPr/>
          <p:nvPr/>
        </p:nvSpPr>
        <p:spPr>
          <a:xfrm>
            <a:off x="381000" y="333375"/>
            <a:ext cx="573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571500" y="285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8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.jpg</a:t>
            </a:r>
            <a:endParaRPr b="1" sz="2800">
              <a:solidFill>
                <a:srgbClr val="FACC1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34" name="Google Shape;234;p21"/>
          <p:cNvGrpSpPr/>
          <p:nvPr/>
        </p:nvGrpSpPr>
        <p:grpSpPr>
          <a:xfrm>
            <a:off x="571500" y="1047750"/>
            <a:ext cx="2381400" cy="3095775"/>
            <a:chOff x="571500" y="1047750"/>
            <a:chExt cx="2381400" cy="3095775"/>
          </a:xfrm>
        </p:grpSpPr>
        <p:pic>
          <p:nvPicPr>
            <p:cNvPr descr="A retro pixel-art style portrait photo of a digital landscape, cybernetic grid aesthetic with vibrant neon highlights." id="235" name="Google Shape;235;p21"/>
            <p:cNvPicPr preferRelativeResize="0"/>
            <p:nvPr/>
          </p:nvPicPr>
          <p:blipFill rotWithShape="1">
            <a:blip r:embed="rId3">
              <a:alphaModFix/>
            </a:blip>
            <a:srcRect b="0" l="5357" r="5357" t="0"/>
            <a:stretch/>
          </p:blipFill>
          <p:spPr>
            <a:xfrm>
              <a:off x="571500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21"/>
            <p:cNvSpPr/>
            <p:nvPr/>
          </p:nvSpPr>
          <p:spPr>
            <a:xfrm>
              <a:off x="571500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571500" y="3857625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visual studio code.</a:t>
              </a:r>
              <a:endParaRPr b="1" sz="10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38" name="Google Shape;238;p21"/>
          <p:cNvGrpSpPr/>
          <p:nvPr/>
        </p:nvGrpSpPr>
        <p:grpSpPr>
          <a:xfrm>
            <a:off x="3381375" y="1047750"/>
            <a:ext cx="2381400" cy="3095775"/>
            <a:chOff x="3381375" y="1047750"/>
            <a:chExt cx="2381400" cy="3095775"/>
          </a:xfrm>
        </p:grpSpPr>
        <p:pic>
          <p:nvPicPr>
            <p:cNvPr descr="A beautiful neon glowing physics simulation showing digital water and fluid elements falling through barriers, dark screen pixel art style." id="239" name="Google Shape;239;p21"/>
            <p:cNvPicPr preferRelativeResize="0"/>
            <p:nvPr/>
          </p:nvPicPr>
          <p:blipFill rotWithShape="1">
            <a:blip r:embed="rId4">
              <a:alphaModFix/>
            </a:blip>
            <a:srcRect b="0" l="5357" r="5357" t="0"/>
            <a:stretch/>
          </p:blipFill>
          <p:spPr>
            <a:xfrm>
              <a:off x="3381375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1"/>
            <p:cNvSpPr/>
            <p:nvPr/>
          </p:nvSpPr>
          <p:spPr>
            <a:xfrm>
              <a:off x="3381375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1"/>
            <p:cNvSpPr txBox="1"/>
            <p:nvPr/>
          </p:nvSpPr>
          <p:spPr>
            <a:xfrm>
              <a:off x="3381375" y="3857625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000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adee (me).</a:t>
              </a:r>
              <a:endParaRPr b="1" sz="10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42" name="Google Shape;242;p21"/>
          <p:cNvGrpSpPr/>
          <p:nvPr/>
        </p:nvGrpSpPr>
        <p:grpSpPr>
          <a:xfrm>
            <a:off x="6191250" y="1047750"/>
            <a:ext cx="2381400" cy="3095775"/>
            <a:chOff x="6191250" y="1047750"/>
            <a:chExt cx="2381400" cy="3095775"/>
          </a:xfrm>
        </p:grpSpPr>
        <p:pic>
          <p:nvPicPr>
            <p:cNvPr descr="A classic developer workspace retro setup with dual CRT screens coding game physics simulation rules, glowing green and orange terminal text." id="243" name="Google Shape;243;p21"/>
            <p:cNvPicPr preferRelativeResize="0"/>
            <p:nvPr/>
          </p:nvPicPr>
          <p:blipFill rotWithShape="1">
            <a:blip r:embed="rId5">
              <a:alphaModFix/>
            </a:blip>
            <a:srcRect b="0" l="5357" r="5357" t="0"/>
            <a:stretch/>
          </p:blipFill>
          <p:spPr>
            <a:xfrm>
              <a:off x="6191250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1"/>
            <p:cNvSpPr/>
            <p:nvPr/>
          </p:nvSpPr>
          <p:spPr>
            <a:xfrm>
              <a:off x="6191250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6191250" y="3857625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workplace.</a:t>
              </a:r>
              <a:endParaRPr b="1" sz="10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46" name="Google Shape;246;p21" title="1_BnpPe7u0t-e8hHc-qEmgSQ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1047750"/>
            <a:ext cx="2381400" cy="26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title="unnamed (1)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1375" y="1047750"/>
            <a:ext cx="2381399" cy="2655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title="unnamed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91250" y="1047750"/>
            <a:ext cx="2381399" cy="2655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4" name="Google Shape;254;p22"/>
            <p:cNvSpPr/>
            <p:nvPr/>
          </p:nvSpPr>
          <p:spPr>
            <a:xfrm>
              <a:off x="1143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2"/>
            <p:cNvSpPr/>
            <p:nvPr/>
          </p:nvSpPr>
          <p:spPr>
            <a:xfrm>
              <a:off x="3429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2"/>
            <p:cNvSpPr/>
            <p:nvPr/>
          </p:nvSpPr>
          <p:spPr>
            <a:xfrm>
              <a:off x="5715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2"/>
            <p:cNvSpPr/>
            <p:nvPr/>
          </p:nvSpPr>
          <p:spPr>
            <a:xfrm>
              <a:off x="8001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2"/>
            <p:cNvSpPr/>
            <p:nvPr/>
          </p:nvSpPr>
          <p:spPr>
            <a:xfrm>
              <a:off x="0" y="1143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0" y="2667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2"/>
            <p:cNvSpPr/>
            <p:nvPr/>
          </p:nvSpPr>
          <p:spPr>
            <a:xfrm>
              <a:off x="0" y="4191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1" name="Google Shape;261;p22"/>
          <p:cNvSpPr/>
          <p:nvPr/>
        </p:nvSpPr>
        <p:spPr>
          <a:xfrm>
            <a:off x="381000" y="333375"/>
            <a:ext cx="573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571500" y="285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8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.jpg</a:t>
            </a:r>
            <a:endParaRPr b="1" sz="2800">
              <a:solidFill>
                <a:srgbClr val="FACC1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63" name="Google Shape;263;p22"/>
          <p:cNvGrpSpPr/>
          <p:nvPr/>
        </p:nvGrpSpPr>
        <p:grpSpPr>
          <a:xfrm>
            <a:off x="571500" y="1047750"/>
            <a:ext cx="2381400" cy="3095775"/>
            <a:chOff x="571500" y="1047750"/>
            <a:chExt cx="2381400" cy="3095775"/>
          </a:xfrm>
        </p:grpSpPr>
        <p:pic>
          <p:nvPicPr>
            <p:cNvPr descr="A retro pixel-art style portrait photo of a digital landscape, cybernetic grid aesthetic with vibrant neon highlights." id="264" name="Google Shape;264;p22"/>
            <p:cNvPicPr preferRelativeResize="0"/>
            <p:nvPr/>
          </p:nvPicPr>
          <p:blipFill rotWithShape="1">
            <a:blip r:embed="rId3">
              <a:alphaModFix/>
            </a:blip>
            <a:srcRect b="0" l="5357" r="5357" t="0"/>
            <a:stretch/>
          </p:blipFill>
          <p:spPr>
            <a:xfrm>
              <a:off x="571500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22"/>
            <p:cNvSpPr/>
            <p:nvPr/>
          </p:nvSpPr>
          <p:spPr>
            <a:xfrm>
              <a:off x="571500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2"/>
            <p:cNvSpPr txBox="1"/>
            <p:nvPr/>
          </p:nvSpPr>
          <p:spPr>
            <a:xfrm>
              <a:off x="571500" y="3857625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cellulární automat</a:t>
              </a:r>
              <a:endParaRPr b="1" sz="10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67" name="Google Shape;267;p22"/>
          <p:cNvGrpSpPr/>
          <p:nvPr/>
        </p:nvGrpSpPr>
        <p:grpSpPr>
          <a:xfrm>
            <a:off x="5253150" y="1023850"/>
            <a:ext cx="2680450" cy="3095775"/>
            <a:chOff x="3381375" y="1047750"/>
            <a:chExt cx="2680450" cy="3095775"/>
          </a:xfrm>
        </p:grpSpPr>
        <p:pic>
          <p:nvPicPr>
            <p:cNvPr descr="A beautiful neon glowing physics simulation showing digital water and fluid elements falling through barriers, dark screen pixel art style." id="268" name="Google Shape;268;p22"/>
            <p:cNvPicPr preferRelativeResize="0"/>
            <p:nvPr/>
          </p:nvPicPr>
          <p:blipFill rotWithShape="1">
            <a:blip r:embed="rId4">
              <a:alphaModFix/>
            </a:blip>
            <a:srcRect b="0" l="5357" r="5357" t="0"/>
            <a:stretch/>
          </p:blipFill>
          <p:spPr>
            <a:xfrm>
              <a:off x="3381375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p22"/>
            <p:cNvSpPr/>
            <p:nvPr/>
          </p:nvSpPr>
          <p:spPr>
            <a:xfrm>
              <a:off x="3381375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 txBox="1"/>
            <p:nvPr/>
          </p:nvSpPr>
          <p:spPr>
            <a:xfrm>
              <a:off x="3680425" y="3857625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000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trust the process.</a:t>
              </a:r>
              <a:endParaRPr b="1" sz="10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71" name="Google Shape;271;p22"/>
          <p:cNvGrpSpPr/>
          <p:nvPr/>
        </p:nvGrpSpPr>
        <p:grpSpPr>
          <a:xfrm>
            <a:off x="6191250" y="1047750"/>
            <a:ext cx="2381400" cy="2667000"/>
            <a:chOff x="6191250" y="1047750"/>
            <a:chExt cx="2381400" cy="2667000"/>
          </a:xfrm>
        </p:grpSpPr>
        <p:pic>
          <p:nvPicPr>
            <p:cNvPr descr="A classic developer workspace retro setup with dual CRT screens coding game physics simulation rules, glowing green and orange terminal text." id="272" name="Google Shape;272;p22"/>
            <p:cNvPicPr preferRelativeResize="0"/>
            <p:nvPr/>
          </p:nvPicPr>
          <p:blipFill rotWithShape="1">
            <a:blip r:embed="rId5">
              <a:alphaModFix/>
            </a:blip>
            <a:srcRect b="0" l="5357" r="5357" t="0"/>
            <a:stretch/>
          </p:blipFill>
          <p:spPr>
            <a:xfrm>
              <a:off x="6191250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" name="Google Shape;273;p22"/>
            <p:cNvSpPr/>
            <p:nvPr/>
          </p:nvSpPr>
          <p:spPr>
            <a:xfrm>
              <a:off x="6191250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4" name="Google Shape;274;p22" title="Gospers_glider_gun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1047750"/>
            <a:ext cx="23814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 title="kod do projektu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1375" y="1145225"/>
            <a:ext cx="5131325" cy="248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81" name="Google Shape;281;p23"/>
            <p:cNvSpPr/>
            <p:nvPr/>
          </p:nvSpPr>
          <p:spPr>
            <a:xfrm>
              <a:off x="1143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3"/>
            <p:cNvSpPr/>
            <p:nvPr/>
          </p:nvSpPr>
          <p:spPr>
            <a:xfrm>
              <a:off x="3429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3"/>
            <p:cNvSpPr/>
            <p:nvPr/>
          </p:nvSpPr>
          <p:spPr>
            <a:xfrm>
              <a:off x="5715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8001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3"/>
            <p:cNvSpPr/>
            <p:nvPr/>
          </p:nvSpPr>
          <p:spPr>
            <a:xfrm>
              <a:off x="0" y="1143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3"/>
            <p:cNvSpPr/>
            <p:nvPr/>
          </p:nvSpPr>
          <p:spPr>
            <a:xfrm>
              <a:off x="0" y="2667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3"/>
            <p:cNvSpPr/>
            <p:nvPr/>
          </p:nvSpPr>
          <p:spPr>
            <a:xfrm>
              <a:off x="0" y="4191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8" name="Google Shape;288;p23"/>
          <p:cNvSpPr/>
          <p:nvPr/>
        </p:nvSpPr>
        <p:spPr>
          <a:xfrm>
            <a:off x="381000" y="333375"/>
            <a:ext cx="573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571500" y="285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8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.jpg</a:t>
            </a:r>
            <a:endParaRPr b="1" sz="2800">
              <a:solidFill>
                <a:srgbClr val="FACC1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90" name="Google Shape;290;p23"/>
          <p:cNvGrpSpPr/>
          <p:nvPr/>
        </p:nvGrpSpPr>
        <p:grpSpPr>
          <a:xfrm>
            <a:off x="571500" y="1047750"/>
            <a:ext cx="2913000" cy="3190875"/>
            <a:chOff x="571500" y="1047750"/>
            <a:chExt cx="2913000" cy="3190875"/>
          </a:xfrm>
        </p:grpSpPr>
        <p:pic>
          <p:nvPicPr>
            <p:cNvPr descr="A retro pixel-art style portrait photo of a digital landscape, cybernetic grid aesthetic with vibrant neon highlights." id="291" name="Google Shape;291;p23"/>
            <p:cNvPicPr preferRelativeResize="0"/>
            <p:nvPr/>
          </p:nvPicPr>
          <p:blipFill rotWithShape="1">
            <a:blip r:embed="rId3">
              <a:alphaModFix/>
            </a:blip>
            <a:srcRect b="0" l="5357" r="5357" t="0"/>
            <a:stretch/>
          </p:blipFill>
          <p:spPr>
            <a:xfrm>
              <a:off x="571500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23"/>
            <p:cNvSpPr/>
            <p:nvPr/>
          </p:nvSpPr>
          <p:spPr>
            <a:xfrm>
              <a:off x="571500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3"/>
            <p:cNvSpPr txBox="1"/>
            <p:nvPr/>
          </p:nvSpPr>
          <p:spPr>
            <a:xfrm>
              <a:off x="571500" y="3857625"/>
              <a:ext cx="291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exercise between programming.</a:t>
              </a:r>
              <a:br>
                <a:rPr b="1" lang="cs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cs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beer&amp;run</a:t>
              </a:r>
              <a:endParaRPr b="1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94" name="Google Shape;294;p23"/>
          <p:cNvGrpSpPr/>
          <p:nvPr/>
        </p:nvGrpSpPr>
        <p:grpSpPr>
          <a:xfrm>
            <a:off x="3381375" y="1047750"/>
            <a:ext cx="4818025" cy="3040400"/>
            <a:chOff x="3381375" y="1047750"/>
            <a:chExt cx="4818025" cy="3040400"/>
          </a:xfrm>
        </p:grpSpPr>
        <p:pic>
          <p:nvPicPr>
            <p:cNvPr descr="A beautiful neon glowing physics simulation showing digital water and fluid elements falling through barriers, dark screen pixel art style." id="295" name="Google Shape;295;p23"/>
            <p:cNvPicPr preferRelativeResize="0"/>
            <p:nvPr/>
          </p:nvPicPr>
          <p:blipFill rotWithShape="1">
            <a:blip r:embed="rId4">
              <a:alphaModFix/>
            </a:blip>
            <a:srcRect b="0" l="5357" r="5357" t="0"/>
            <a:stretch/>
          </p:blipFill>
          <p:spPr>
            <a:xfrm>
              <a:off x="3381375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23"/>
            <p:cNvSpPr/>
            <p:nvPr/>
          </p:nvSpPr>
          <p:spPr>
            <a:xfrm>
              <a:off x="3381375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3"/>
            <p:cNvSpPr txBox="1"/>
            <p:nvPr/>
          </p:nvSpPr>
          <p:spPr>
            <a:xfrm>
              <a:off x="5818000" y="3802250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000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</a:t>
              </a:r>
              <a:r>
                <a:rPr b="1" lang="cs" sz="1100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bindy</a:t>
              </a:r>
              <a:r>
                <a:rPr b="1" lang="cs" sz="1000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endParaRPr b="1" sz="11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98" name="Google Shape;298;p23"/>
          <p:cNvGrpSpPr/>
          <p:nvPr/>
        </p:nvGrpSpPr>
        <p:grpSpPr>
          <a:xfrm>
            <a:off x="6191250" y="1047750"/>
            <a:ext cx="2381400" cy="2667000"/>
            <a:chOff x="6191250" y="1047750"/>
            <a:chExt cx="2381400" cy="2667000"/>
          </a:xfrm>
        </p:grpSpPr>
        <p:pic>
          <p:nvPicPr>
            <p:cNvPr descr="A classic developer workspace retro setup with dual CRT screens coding game physics simulation rules, glowing green and orange terminal text." id="299" name="Google Shape;299;p23"/>
            <p:cNvPicPr preferRelativeResize="0"/>
            <p:nvPr/>
          </p:nvPicPr>
          <p:blipFill rotWithShape="1">
            <a:blip r:embed="rId5">
              <a:alphaModFix/>
            </a:blip>
            <a:srcRect b="0" l="5357" r="5357" t="0"/>
            <a:stretch/>
          </p:blipFill>
          <p:spPr>
            <a:xfrm>
              <a:off x="6191250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23"/>
            <p:cNvSpPr/>
            <p:nvPr/>
          </p:nvSpPr>
          <p:spPr>
            <a:xfrm>
              <a:off x="6191250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1" name="Google Shape;301;p23" title="1_BnpPe7u0t-e8hHc-qEmgSQ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1047750"/>
            <a:ext cx="2381400" cy="26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 title="unnamed (1)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1375" y="1047750"/>
            <a:ext cx="2381399" cy="2655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3" title="unnamed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91250" y="1047750"/>
            <a:ext cx="2381399" cy="2655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3" title="word do projektu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81375" y="1006775"/>
            <a:ext cx="5191126" cy="273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3" title="IMG_1446.jpe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0550" y="1047750"/>
            <a:ext cx="2207900" cy="2799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11" name="Google Shape;311;p24"/>
            <p:cNvSpPr/>
            <p:nvPr/>
          </p:nvSpPr>
          <p:spPr>
            <a:xfrm>
              <a:off x="1143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3429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5715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8001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0" y="1143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0" y="2667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0" y="4191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" name="Google Shape;318;p24"/>
          <p:cNvSpPr/>
          <p:nvPr/>
        </p:nvSpPr>
        <p:spPr>
          <a:xfrm>
            <a:off x="381000" y="333375"/>
            <a:ext cx="573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571500" y="285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8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.jpg</a:t>
            </a:r>
            <a:endParaRPr b="1" sz="2800">
              <a:solidFill>
                <a:srgbClr val="FACC1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20" name="Google Shape;320;p24"/>
          <p:cNvGrpSpPr/>
          <p:nvPr/>
        </p:nvGrpSpPr>
        <p:grpSpPr>
          <a:xfrm>
            <a:off x="571500" y="1047750"/>
            <a:ext cx="2381400" cy="3095775"/>
            <a:chOff x="571500" y="1047750"/>
            <a:chExt cx="2381400" cy="3095775"/>
          </a:xfrm>
        </p:grpSpPr>
        <p:pic>
          <p:nvPicPr>
            <p:cNvPr descr="A retro pixel-art style portrait photo of a digital landscape, cybernetic grid aesthetic with vibrant neon highlights." id="321" name="Google Shape;321;p24"/>
            <p:cNvPicPr preferRelativeResize="0"/>
            <p:nvPr/>
          </p:nvPicPr>
          <p:blipFill rotWithShape="1">
            <a:blip r:embed="rId3">
              <a:alphaModFix/>
            </a:blip>
            <a:srcRect b="0" l="5357" r="5357" t="0"/>
            <a:stretch/>
          </p:blipFill>
          <p:spPr>
            <a:xfrm>
              <a:off x="571500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4"/>
            <p:cNvSpPr/>
            <p:nvPr/>
          </p:nvSpPr>
          <p:spPr>
            <a:xfrm>
              <a:off x="571500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4"/>
            <p:cNvSpPr txBox="1"/>
            <p:nvPr/>
          </p:nvSpPr>
          <p:spPr>
            <a:xfrm>
              <a:off x="571500" y="3857625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how to basic.</a:t>
              </a:r>
              <a:endParaRPr b="1" sz="10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24" name="Google Shape;324;p24"/>
          <p:cNvGrpSpPr/>
          <p:nvPr/>
        </p:nvGrpSpPr>
        <p:grpSpPr>
          <a:xfrm>
            <a:off x="3381375" y="1047750"/>
            <a:ext cx="2381400" cy="3095775"/>
            <a:chOff x="3381375" y="1047750"/>
            <a:chExt cx="2381400" cy="3095775"/>
          </a:xfrm>
        </p:grpSpPr>
        <p:pic>
          <p:nvPicPr>
            <p:cNvPr descr="A beautiful neon glowing physics simulation showing digital water and fluid elements falling through barriers, dark screen pixel art style." id="325" name="Google Shape;325;p24"/>
            <p:cNvPicPr preferRelativeResize="0"/>
            <p:nvPr/>
          </p:nvPicPr>
          <p:blipFill rotWithShape="1">
            <a:blip r:embed="rId4">
              <a:alphaModFix/>
            </a:blip>
            <a:srcRect b="0" l="5357" r="5357" t="0"/>
            <a:stretch/>
          </p:blipFill>
          <p:spPr>
            <a:xfrm>
              <a:off x="3381375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4"/>
            <p:cNvSpPr/>
            <p:nvPr/>
          </p:nvSpPr>
          <p:spPr>
            <a:xfrm>
              <a:off x="3381375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4"/>
            <p:cNvSpPr txBox="1"/>
            <p:nvPr/>
          </p:nvSpPr>
          <p:spPr>
            <a:xfrm>
              <a:off x="3381375" y="3857625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000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looking good.</a:t>
              </a:r>
              <a:endParaRPr b="1" sz="10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28" name="Google Shape;328;p24"/>
          <p:cNvGrpSpPr/>
          <p:nvPr/>
        </p:nvGrpSpPr>
        <p:grpSpPr>
          <a:xfrm>
            <a:off x="6191250" y="1047750"/>
            <a:ext cx="2381400" cy="2667000"/>
            <a:chOff x="6191250" y="1047750"/>
            <a:chExt cx="2381400" cy="2667000"/>
          </a:xfrm>
        </p:grpSpPr>
        <p:pic>
          <p:nvPicPr>
            <p:cNvPr descr="A classic developer workspace retro setup with dual CRT screens coding game physics simulation rules, glowing green and orange terminal text." id="329" name="Google Shape;329;p24"/>
            <p:cNvPicPr preferRelativeResize="0"/>
            <p:nvPr/>
          </p:nvPicPr>
          <p:blipFill rotWithShape="1">
            <a:blip r:embed="rId5">
              <a:alphaModFix/>
            </a:blip>
            <a:srcRect b="0" l="5357" r="5357" t="0"/>
            <a:stretch/>
          </p:blipFill>
          <p:spPr>
            <a:xfrm>
              <a:off x="6191250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p24"/>
            <p:cNvSpPr/>
            <p:nvPr/>
          </p:nvSpPr>
          <p:spPr>
            <a:xfrm>
              <a:off x="6191250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31" name="Google Shape;331;p24" title="1_BnpPe7u0t-e8hHc-qEmgSQ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1047750"/>
            <a:ext cx="2381400" cy="26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4" title="unnamed (1)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1375" y="1047750"/>
            <a:ext cx="2381399" cy="2655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4" title="unnamed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91250" y="1047750"/>
            <a:ext cx="2381399" cy="2655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4" title="okno 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81375" y="870524"/>
            <a:ext cx="5191126" cy="2916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4" title="guid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0963" y="1009538"/>
            <a:ext cx="2809875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2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41" name="Google Shape;341;p25"/>
            <p:cNvSpPr/>
            <p:nvPr/>
          </p:nvSpPr>
          <p:spPr>
            <a:xfrm>
              <a:off x="1143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3429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5"/>
            <p:cNvSpPr/>
            <p:nvPr/>
          </p:nvSpPr>
          <p:spPr>
            <a:xfrm>
              <a:off x="5715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5"/>
            <p:cNvSpPr/>
            <p:nvPr/>
          </p:nvSpPr>
          <p:spPr>
            <a:xfrm>
              <a:off x="8001000" y="0"/>
              <a:ext cx="96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5"/>
            <p:cNvSpPr/>
            <p:nvPr/>
          </p:nvSpPr>
          <p:spPr>
            <a:xfrm>
              <a:off x="0" y="1143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0" y="2667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0" y="4191000"/>
              <a:ext cx="9144000" cy="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25"/>
          <p:cNvSpPr/>
          <p:nvPr/>
        </p:nvSpPr>
        <p:spPr>
          <a:xfrm>
            <a:off x="381000" y="333375"/>
            <a:ext cx="573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571500" y="285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8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.jpg</a:t>
            </a:r>
            <a:endParaRPr b="1" sz="2800">
              <a:solidFill>
                <a:srgbClr val="FACC1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50" name="Google Shape;350;p25"/>
          <p:cNvGrpSpPr/>
          <p:nvPr/>
        </p:nvGrpSpPr>
        <p:grpSpPr>
          <a:xfrm>
            <a:off x="571500" y="1047750"/>
            <a:ext cx="2381400" cy="2667000"/>
            <a:chOff x="571500" y="1047750"/>
            <a:chExt cx="2381400" cy="2667000"/>
          </a:xfrm>
        </p:grpSpPr>
        <p:pic>
          <p:nvPicPr>
            <p:cNvPr descr="A retro pixel-art style portrait photo of a digital landscape, cybernetic grid aesthetic with vibrant neon highlights." id="351" name="Google Shape;351;p25"/>
            <p:cNvPicPr preferRelativeResize="0"/>
            <p:nvPr/>
          </p:nvPicPr>
          <p:blipFill rotWithShape="1">
            <a:blip r:embed="rId3">
              <a:alphaModFix/>
            </a:blip>
            <a:srcRect b="0" l="5357" r="5357" t="0"/>
            <a:stretch/>
          </p:blipFill>
          <p:spPr>
            <a:xfrm>
              <a:off x="571500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25"/>
            <p:cNvSpPr/>
            <p:nvPr/>
          </p:nvSpPr>
          <p:spPr>
            <a:xfrm>
              <a:off x="571500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25"/>
          <p:cNvGrpSpPr/>
          <p:nvPr/>
        </p:nvGrpSpPr>
        <p:grpSpPr>
          <a:xfrm>
            <a:off x="3381375" y="1047750"/>
            <a:ext cx="2381400" cy="3095775"/>
            <a:chOff x="3381375" y="1047750"/>
            <a:chExt cx="2381400" cy="3095775"/>
          </a:xfrm>
        </p:grpSpPr>
        <p:pic>
          <p:nvPicPr>
            <p:cNvPr descr="A beautiful neon glowing physics simulation showing digital water and fluid elements falling through barriers, dark screen pixel art style." id="354" name="Google Shape;354;p25"/>
            <p:cNvPicPr preferRelativeResize="0"/>
            <p:nvPr/>
          </p:nvPicPr>
          <p:blipFill rotWithShape="1">
            <a:blip r:embed="rId4">
              <a:alphaModFix/>
            </a:blip>
            <a:srcRect b="0" l="5357" r="5357" t="0"/>
            <a:stretch/>
          </p:blipFill>
          <p:spPr>
            <a:xfrm>
              <a:off x="3381375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25"/>
            <p:cNvSpPr/>
            <p:nvPr/>
          </p:nvSpPr>
          <p:spPr>
            <a:xfrm>
              <a:off x="3381375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FACC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5"/>
            <p:cNvSpPr txBox="1"/>
            <p:nvPr/>
          </p:nvSpPr>
          <p:spPr>
            <a:xfrm>
              <a:off x="3381375" y="3857625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000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every nature law in this small world inside my pc.</a:t>
              </a:r>
              <a:endParaRPr b="1" sz="10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57" name="Google Shape;357;p25"/>
          <p:cNvGrpSpPr/>
          <p:nvPr/>
        </p:nvGrpSpPr>
        <p:grpSpPr>
          <a:xfrm>
            <a:off x="6191250" y="1047750"/>
            <a:ext cx="2381400" cy="2667000"/>
            <a:chOff x="6191250" y="1047750"/>
            <a:chExt cx="2381400" cy="2667000"/>
          </a:xfrm>
        </p:grpSpPr>
        <p:pic>
          <p:nvPicPr>
            <p:cNvPr descr="A classic developer workspace retro setup with dual CRT screens coding game physics simulation rules, glowing green and orange terminal text." id="358" name="Google Shape;358;p25"/>
            <p:cNvPicPr preferRelativeResize="0"/>
            <p:nvPr/>
          </p:nvPicPr>
          <p:blipFill rotWithShape="1">
            <a:blip r:embed="rId5">
              <a:alphaModFix/>
            </a:blip>
            <a:srcRect b="0" l="5357" r="5357" t="0"/>
            <a:stretch/>
          </p:blipFill>
          <p:spPr>
            <a:xfrm>
              <a:off x="6191250" y="1047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25"/>
            <p:cNvSpPr/>
            <p:nvPr/>
          </p:nvSpPr>
          <p:spPr>
            <a:xfrm>
              <a:off x="6191250" y="1047750"/>
              <a:ext cx="2381400" cy="2667000"/>
            </a:xfrm>
            <a:prstGeom prst="roundRect">
              <a:avLst>
                <a:gd fmla="val 16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60" name="Google Shape;360;p25" title="1_BnpPe7u0t-e8hHc-qEmgSQ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1047750"/>
            <a:ext cx="2381400" cy="26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 title="unnamed (1)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1375" y="1047750"/>
            <a:ext cx="2381399" cy="2655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5" title="unnamed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91250" y="1047750"/>
            <a:ext cx="2381399" cy="2655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5" title="na projek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1500" y="1047750"/>
            <a:ext cx="8001000" cy="27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2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69" name="Google Shape;369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8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24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0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96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138238"/>
              <a:ext cx="91440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662238"/>
              <a:ext cx="91440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4186238"/>
              <a:ext cx="9144000" cy="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6" name="Google Shape;376;p26"/>
          <p:cNvSpPr/>
          <p:nvPr/>
        </p:nvSpPr>
        <p:spPr>
          <a:xfrm>
            <a:off x="381000" y="333375"/>
            <a:ext cx="573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6"/>
          <p:cNvSpPr txBox="1"/>
          <p:nvPr/>
        </p:nvSpPr>
        <p:spPr>
          <a:xfrm>
            <a:off x="571500" y="285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8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 b="1" sz="2800">
              <a:solidFill>
                <a:srgbClr val="FACC1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78" name="Google Shape;378;p26"/>
          <p:cNvGrpSpPr/>
          <p:nvPr/>
        </p:nvGrpSpPr>
        <p:grpSpPr>
          <a:xfrm>
            <a:off x="1714500" y="1714500"/>
            <a:ext cx="5715000" cy="1714500"/>
            <a:chOff x="1714500" y="1714500"/>
            <a:chExt cx="5715000" cy="1714500"/>
          </a:xfrm>
        </p:grpSpPr>
        <p:sp>
          <p:nvSpPr>
            <p:cNvPr id="379" name="Google Shape;379;p26"/>
            <p:cNvSpPr/>
            <p:nvPr/>
          </p:nvSpPr>
          <p:spPr>
            <a:xfrm>
              <a:off x="1714500" y="1714500"/>
              <a:ext cx="5715000" cy="1714500"/>
            </a:xfrm>
            <a:prstGeom prst="roundRect">
              <a:avLst>
                <a:gd fmla="val 2222" name="adj"/>
              </a:avLst>
            </a:prstGeom>
            <a:solidFill>
              <a:srgbClr val="000000">
                <a:alpha val="4000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6"/>
            <p:cNvSpPr txBox="1"/>
            <p:nvPr/>
          </p:nvSpPr>
          <p:spPr>
            <a:xfrm>
              <a:off x="1905000" y="1905000"/>
              <a:ext cx="533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6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Děkuji za pozornost</a:t>
              </a:r>
              <a:endParaRPr b="1" sz="16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81" name="Google Shape;381;p26"/>
            <p:cNvSpPr txBox="1"/>
            <p:nvPr/>
          </p:nvSpPr>
          <p:spPr>
            <a:xfrm>
              <a:off x="1905000" y="2667000"/>
              <a:ext cx="533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s" sz="1200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thanks for watching.</a:t>
              </a:r>
              <a:endParaRPr b="1" sz="12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